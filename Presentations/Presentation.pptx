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5" r:id="rId4"/>
    <p:sldId id="268" r:id="rId5"/>
    <p:sldId id="269" r:id="rId6"/>
    <p:sldId id="270" r:id="rId7"/>
    <p:sldId id="271" r:id="rId8"/>
    <p:sldId id="272" r:id="rId9"/>
    <p:sldId id="273" r:id="rId10"/>
    <p:sldId id="27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BAE465-30D7-44AF-9D4F-2AFD7434FAA2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9E6ECB-C1CA-495F-8270-FE57C1B64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3112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4F8C1-16F7-03D8-595A-16B67DB674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8D0E7A-B267-D117-F843-C43C669955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48041-0F5A-07DF-3663-49E83ADEB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B2125-D7E0-4A8E-BBAC-516C38BF2B70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F7BFBE-7B8F-5FCC-B199-BC1FB511A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186A0-3C7F-6263-7DB3-0844B426C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686DD-C188-408A-A120-CF47EB2E5F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5322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171A2-D740-9E2A-576A-97C2CB5C6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AA328-38DA-CC1A-DB90-A938AEACE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C11E7-4575-BB9C-C288-D25BE2BA2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B2125-D7E0-4A8E-BBAC-516C38BF2B70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291C28-873F-985E-CD72-04624F0C1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410950-56FA-BEA9-A3A7-0F3F74CAC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686DD-C188-408A-A120-CF47EB2E5F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6126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FF008-1088-63A3-B014-8873F7563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B3F5F2-B2A9-F49B-DCA9-031F73BF1C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E914A-B218-66E8-C048-B68F97076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B2125-D7E0-4A8E-BBAC-516C38BF2B70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84C188-A05E-C444-B96D-E63945837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832C1-2D58-C7CD-BCD6-A6A4692BF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686DD-C188-408A-A120-CF47EB2E5F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6162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5A5D4-ABD1-A052-5AF3-27D54FE68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3CAC4-E4F3-72B2-2420-CE77C07AB9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D21962-BD8B-2FE5-FFBE-F9622792AE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DDD99D-83F7-4F3B-C25D-49D387EE8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B2125-D7E0-4A8E-BBAC-516C38BF2B70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22141E-3372-EA53-7CDB-722FF8E9B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64A526-BBD8-3C4D-FC13-A46E59559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686DD-C188-408A-A120-CF47EB2E5F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8388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5F82D-3EDC-53EE-C2BF-486F2B331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0D02F2-A384-9438-DB00-E1268793AA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D9B111-BC16-1848-1F30-EFAB275DC4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448D51-0C22-3D85-4693-3694431F2D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EC0AF2-3EA6-E035-CD24-814B10C023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2CC58B-0B72-4589-A244-326776AE5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B2125-D7E0-4A8E-BBAC-516C38BF2B70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4EBAF3-9D0A-341D-42B2-81EC56B3B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94D38F-EADA-329D-715D-A5F89DCFD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686DD-C188-408A-A120-CF47EB2E5F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2068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54578-11F6-8F7C-F73B-4C67670DF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9D3FBF-8C9A-12E8-D3EA-E162C8354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B2125-D7E0-4A8E-BBAC-516C38BF2B70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16A208-9CC2-C781-98BB-CC20B593D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D021B2-C155-79A5-F107-D705A2571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686DD-C188-408A-A120-CF47EB2E5F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5871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98CDE3-F1E6-69D4-C4B5-2EF709284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B2125-D7E0-4A8E-BBAC-516C38BF2B70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003685-5A81-DA1B-B877-85D601745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D22E9D-FFB9-DDF0-91C0-14E2FFB8E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686DD-C188-408A-A120-CF47EB2E5F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8104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28CBD-56EF-9EC8-5B4B-3897FB83E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E0D03-606A-CDFA-E29B-83A3BC028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F3DAB4-7E6B-02E1-AAA8-E95CBBF708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247495-3EC1-568C-ED3D-90B15D9FF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B2125-D7E0-4A8E-BBAC-516C38BF2B70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54653F-CAE5-B8F8-B3F6-59595FE6F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381F19-2828-BFAD-0BC9-A5A4056CC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686DD-C188-408A-A120-CF47EB2E5F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8033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E0132-8DE2-B682-186B-9A4E292E7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E210FC-971B-143B-6666-31F0480C92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25B3F0-90C8-91C2-75F2-A96CFFD325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EC967E-59E9-BD3E-6C15-ADAA49E99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B2125-D7E0-4A8E-BBAC-516C38BF2B70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1241E7-D2E7-801A-B110-54E53BD5C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48C8D7-2BEC-8A76-8C83-87CEA5878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686DD-C188-408A-A120-CF47EB2E5F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348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3CB75-99E1-16CE-644E-3E4B71883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9D8950-5DC1-8256-A554-3584E3CF31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00653-B2A5-70BF-2C68-909E14BA8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B2125-D7E0-4A8E-BBAC-516C38BF2B70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28F5A-312C-A196-364F-636A8046E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CBEC2-8463-80D3-1CB3-D57D61A0B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686DD-C188-408A-A120-CF47EB2E5F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3234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A59C63-7762-64F9-0686-A08342775C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24420C-DAB9-8C67-11DB-E1F2DA350A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361B6-7213-5ADE-28B8-D0E639505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B2125-D7E0-4A8E-BBAC-516C38BF2B70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AF3B76-DA4B-A428-3894-760FF7489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DA6D35-6094-5C83-2FC7-6D679AF79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686DD-C188-408A-A120-CF47EB2E5F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830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1CE396-BABC-034D-675A-4F2008CD7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E67E45-16D7-81C5-C552-FBFDCFE15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0C861A-3352-BBD8-1CE4-BF0F834593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7B2125-D7E0-4A8E-BBAC-516C38BF2B70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A46985-DADE-409F-7C3F-5835646057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DF9DC-E53F-1475-04B5-BE4037C722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3686DD-C188-408A-A120-CF47EB2E5F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3170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black-background-texture-template-370118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black-background-texture-template-370118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black-background-texture-template-370118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black-background-texture-template-370118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black-background-texture-template-370118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black-background-texture-template-370118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black-background-texture-template-370118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black-background-texture-template-370118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black-background-texture-template-370118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black-background-texture-template-370118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FC25A-C8A5-F0B4-11F6-51282C87C6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5D8715-8D0F-DFC3-E504-0AC27068B8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4DE0A9-8207-B471-0A82-6E31BB7694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CC30DF5-D9DC-C1CC-0497-546073FC8C32}"/>
              </a:ext>
            </a:extLst>
          </p:cNvPr>
          <p:cNvSpPr txBox="1"/>
          <p:nvPr/>
        </p:nvSpPr>
        <p:spPr>
          <a:xfrm>
            <a:off x="5094513" y="0"/>
            <a:ext cx="7358743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Healthcare Data Cleaning &amp; Exploratory Data Analysis</a:t>
            </a:r>
          </a:p>
          <a:p>
            <a:endParaRPr lang="en-US" sz="4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Name:-  </a:t>
            </a:r>
            <a:r>
              <a:rPr lang="en-US" sz="2000" i="1" dirty="0">
                <a:solidFill>
                  <a:schemeClr val="bg1"/>
                </a:solidFill>
              </a:rPr>
              <a:t>vikas prajapati</a:t>
            </a:r>
          </a:p>
          <a:p>
            <a:endParaRPr lang="en-US" sz="2000" i="1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Tools: Python (Pandas, NumPy, Matplotlib, Seaborn)</a:t>
            </a:r>
          </a:p>
          <a:p>
            <a:r>
              <a:rPr lang="en-US" sz="2000" dirty="0">
                <a:solidFill>
                  <a:schemeClr val="bg1"/>
                </a:solidFill>
              </a:rPr>
              <a:t> </a:t>
            </a:r>
          </a:p>
          <a:p>
            <a:r>
              <a:rPr lang="en-US" sz="2000" dirty="0">
                <a:solidFill>
                  <a:schemeClr val="bg1"/>
                </a:solidFill>
              </a:rPr>
              <a:t>Date:- 22/04/2026</a:t>
            </a:r>
          </a:p>
          <a:p>
            <a:endParaRPr lang="en-IN" dirty="0"/>
          </a:p>
        </p:txBody>
      </p:sp>
      <p:pic>
        <p:nvPicPr>
          <p:cNvPr id="4" name="Image 0">
            <a:extLst>
              <a:ext uri="{FF2B5EF4-FFF2-40B4-BE49-F238E27FC236}">
                <a16:creationId xmlns:a16="http://schemas.microsoft.com/office/drawing/2014/main" id="{E3E83963-202F-5C1F-A442-3D32CCDBB1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49221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307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06266-5A9E-76A9-E835-E168108A2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A7296-E396-5CC9-0C9C-A52237614F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FBECF-C31F-B7F7-FC59-96F7024C18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6BBE723-5C74-066F-D2F9-C8D68CB8578C}"/>
              </a:ext>
            </a:extLst>
          </p:cNvPr>
          <p:cNvSpPr txBox="1"/>
          <p:nvPr/>
        </p:nvSpPr>
        <p:spPr>
          <a:xfrm>
            <a:off x="0" y="1477526"/>
            <a:ext cx="12104914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• Data in raw form is often messy and inconsistent 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• Data cleaning is a crucial step before analysis 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• Exploratory Data Analysis (EDA) helps understand patterns 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• This project focuses on cleaning and analyzing healthcare data using Python</a:t>
            </a:r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34368D-6624-35A7-FADF-431C6B51EE06}"/>
              </a:ext>
            </a:extLst>
          </p:cNvPr>
          <p:cNvSpPr txBox="1"/>
          <p:nvPr/>
        </p:nvSpPr>
        <p:spPr>
          <a:xfrm>
            <a:off x="0" y="365125"/>
            <a:ext cx="12104914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Introduction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2183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CA903-7651-C460-1B53-38BDEC180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EEF0A-0F13-BE3A-D1BC-E1380ABA1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064B6-8016-5BD7-8E3E-B748D49F0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DA5D381-0211-ABA4-F3D3-E42C9B3A9F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32658"/>
            <a:ext cx="12192000" cy="685799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9292DA0-2F7A-E3D1-94FC-A7585E3A2644}"/>
              </a:ext>
            </a:extLst>
          </p:cNvPr>
          <p:cNvSpPr txBox="1"/>
          <p:nvPr/>
        </p:nvSpPr>
        <p:spPr>
          <a:xfrm>
            <a:off x="625927" y="1520785"/>
            <a:ext cx="7445829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•  Clean and preprocess raw healthcare dataset</a:t>
            </a:r>
          </a:p>
          <a:p>
            <a:r>
              <a:rPr lang="en-US" sz="2800" dirty="0">
                <a:solidFill>
                  <a:schemeClr val="bg1"/>
                </a:solidFill>
              </a:rPr>
              <a:t> </a:t>
            </a:r>
          </a:p>
          <a:p>
            <a:r>
              <a:rPr lang="en-US" sz="2800" dirty="0">
                <a:solidFill>
                  <a:schemeClr val="bg1"/>
                </a:solidFill>
              </a:rPr>
              <a:t>•  Handle missing and inconsistent data 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•  Perform EDA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•  Extract meaningful insights from the dataset </a:t>
            </a:r>
          </a:p>
          <a:p>
            <a:r>
              <a:rPr lang="en-US" sz="2800" dirty="0">
                <a:solidFill>
                  <a:schemeClr val="bg1"/>
                </a:solidFill>
              </a:rPr>
              <a:t> </a:t>
            </a:r>
          </a:p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D1E9F5-E409-F611-E52B-B7A5EA908604}"/>
              </a:ext>
            </a:extLst>
          </p:cNvPr>
          <p:cNvSpPr txBox="1"/>
          <p:nvPr/>
        </p:nvSpPr>
        <p:spPr>
          <a:xfrm>
            <a:off x="0" y="559813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Project Objective</a:t>
            </a:r>
          </a:p>
        </p:txBody>
      </p:sp>
    </p:spTree>
    <p:extLst>
      <p:ext uri="{BB962C8B-B14F-4D97-AF65-F5344CB8AC3E}">
        <p14:creationId xmlns:p14="http://schemas.microsoft.com/office/powerpoint/2010/main" val="3446441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CD577-709B-429B-8DC1-7975CB09A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D6ED7-4B89-44E0-E45D-1FBAC0E4D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3EDC8-0AFB-4EBC-F290-56EBDE7CB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341BED-00BD-4F6A-8A3B-4C3BB76864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6C3A45C-CDEB-659A-E15C-DE468F711CA1}"/>
              </a:ext>
            </a:extLst>
          </p:cNvPr>
          <p:cNvSpPr txBox="1"/>
          <p:nvPr/>
        </p:nvSpPr>
        <p:spPr>
          <a:xfrm>
            <a:off x="217714" y="1599228"/>
            <a:ext cx="732608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•  The dataset contains healthcare-related records</a:t>
            </a:r>
          </a:p>
          <a:p>
            <a:r>
              <a:rPr lang="en-US" sz="2400" dirty="0">
                <a:solidFill>
                  <a:schemeClr val="bg1"/>
                </a:solidFill>
              </a:rPr>
              <a:t> </a:t>
            </a:r>
          </a:p>
          <a:p>
            <a:r>
              <a:rPr lang="en-US" sz="2400" dirty="0">
                <a:solidFill>
                  <a:schemeClr val="bg1"/>
                </a:solidFill>
              </a:rPr>
              <a:t>•  Includes patient and hospital information 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•  Key features: 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•  Age 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•  Gender 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•  Medical Condition 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•  Admission Date 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•  Billing Amount 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•   </a:t>
            </a:r>
            <a:r>
              <a:rPr lang="en-IN" sz="2400" dirty="0">
                <a:solidFill>
                  <a:schemeClr val="bg1"/>
                </a:solidFill>
              </a:rPr>
              <a:t>Insurance Provider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•  </a:t>
            </a:r>
            <a:r>
              <a:rPr lang="en-IN" dirty="0"/>
              <a:t> </a:t>
            </a:r>
            <a:r>
              <a:rPr lang="en-IN" sz="2400" dirty="0">
                <a:solidFill>
                  <a:schemeClr val="bg1"/>
                </a:solidFill>
              </a:rPr>
              <a:t>medication</a:t>
            </a:r>
            <a:r>
              <a:rPr lang="en-IN" dirty="0"/>
              <a:t> </a:t>
            </a:r>
            <a:r>
              <a:rPr lang="en-US" dirty="0">
                <a:solidFill>
                  <a:schemeClr val="bg1"/>
                </a:solidFill>
              </a:rPr>
              <a:t>  </a:t>
            </a:r>
          </a:p>
          <a:p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F3B4E4-35B3-7A43-912A-8FD562720196}"/>
              </a:ext>
            </a:extLst>
          </p:cNvPr>
          <p:cNvSpPr txBox="1"/>
          <p:nvPr/>
        </p:nvSpPr>
        <p:spPr>
          <a:xfrm>
            <a:off x="1" y="365125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: </a:t>
            </a:r>
            <a:r>
              <a:rPr lang="en-IN" sz="4000" dirty="0">
                <a:solidFill>
                  <a:schemeClr val="bg1"/>
                </a:solidFill>
              </a:rPr>
              <a:t>Dataset Overview</a:t>
            </a:r>
          </a:p>
        </p:txBody>
      </p:sp>
    </p:spTree>
    <p:extLst>
      <p:ext uri="{BB962C8B-B14F-4D97-AF65-F5344CB8AC3E}">
        <p14:creationId xmlns:p14="http://schemas.microsoft.com/office/powerpoint/2010/main" val="1002380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73DA8-49BE-83D2-32BF-A57FB59CF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52FA7-C4F0-682B-FE03-AE3887B5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6190E7-4440-FE86-416B-C66164CDDF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1410E8-C59F-79A6-2C54-0ABC92553C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6D7D462-CE50-0842-5A6E-AAE87C47D7F1}"/>
              </a:ext>
            </a:extLst>
          </p:cNvPr>
          <p:cNvSpPr txBox="1"/>
          <p:nvPr/>
        </p:nvSpPr>
        <p:spPr>
          <a:xfrm>
            <a:off x="141514" y="1445260"/>
            <a:ext cx="6085115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•  Removed duplicate records 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•  Correct name columns (name)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•  Converted incorrect data types 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•  Standardized column names 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1B15CF-D2C4-1A2A-AEAE-FB3EC1618F75}"/>
              </a:ext>
            </a:extLst>
          </p:cNvPr>
          <p:cNvSpPr txBox="1"/>
          <p:nvPr/>
        </p:nvSpPr>
        <p:spPr>
          <a:xfrm>
            <a:off x="0" y="230188"/>
            <a:ext cx="1219200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Data Cleaning Steps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9625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9E82E-3BAF-67DC-FB10-C920AEA54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03BD8-30AE-D900-1430-CBEE5A0D6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70D06-AF93-7428-DA26-E26735038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C346FF-10ED-2D63-CF23-357508756B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7DC033B-1A0D-8EAD-1107-B7968EBF05AF}"/>
              </a:ext>
            </a:extLst>
          </p:cNvPr>
          <p:cNvSpPr txBox="1"/>
          <p:nvPr/>
        </p:nvSpPr>
        <p:spPr>
          <a:xfrm>
            <a:off x="-1" y="1748034"/>
            <a:ext cx="5932715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•  Analyzed distribution of data 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•  Identified trends and patterns 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•  Compared different variables 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•  Used visualization for better understanding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EC132E-EA10-067F-C17C-4B46F4647BA2}"/>
              </a:ext>
            </a:extLst>
          </p:cNvPr>
          <p:cNvSpPr txBox="1"/>
          <p:nvPr/>
        </p:nvSpPr>
        <p:spPr>
          <a:xfrm>
            <a:off x="0" y="381575"/>
            <a:ext cx="12192001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Exploratory Data Analysis (EDA)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5846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F228C-F42B-E837-6A5F-AD95D4419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70E67-A256-B973-FD83-2A532B571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F44B1-7353-0A8B-89E0-7222A2E66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B95DEF-A831-DF9C-6650-86B879709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FD9261-47CC-B758-762E-CE77C8112284}"/>
              </a:ext>
            </a:extLst>
          </p:cNvPr>
          <p:cNvSpPr txBox="1"/>
          <p:nvPr/>
        </p:nvSpPr>
        <p:spPr>
          <a:xfrm>
            <a:off x="-2041" y="757528"/>
            <a:ext cx="55245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• Bar Charts → No patient by gender &amp;  Medical condition distribution by gender </a:t>
            </a:r>
          </a:p>
          <a:p>
            <a:r>
              <a:rPr lang="en-US" sz="2000" dirty="0">
                <a:solidFill>
                  <a:schemeClr val="bg1"/>
                </a:solidFill>
              </a:rPr>
              <a:t> </a:t>
            </a:r>
            <a:endParaRPr lang="en-IN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• </a:t>
            </a:r>
            <a:r>
              <a:rPr lang="en-IN" sz="2000" dirty="0">
                <a:solidFill>
                  <a:schemeClr val="bg1"/>
                </a:solidFill>
              </a:rPr>
              <a:t>Heat map </a:t>
            </a:r>
            <a:r>
              <a:rPr lang="en-US" sz="2000" dirty="0">
                <a:solidFill>
                  <a:schemeClr val="bg1"/>
                </a:solidFill>
              </a:rPr>
              <a:t>→Medical condition by test result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DEE247-87E5-B1DA-AFC0-88854656952E}"/>
              </a:ext>
            </a:extLst>
          </p:cNvPr>
          <p:cNvSpPr txBox="1"/>
          <p:nvPr/>
        </p:nvSpPr>
        <p:spPr>
          <a:xfrm>
            <a:off x="0" y="230188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Visualizations Used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414E97F-42B0-DAA1-9990-7929BE8827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0659" y="1011456"/>
            <a:ext cx="5610225" cy="255882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6F5D799-58C5-DD5D-4816-84C13C8B42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0659" y="3705217"/>
            <a:ext cx="5798684" cy="292259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B6F1D61-D74B-4134-6F99-7EBE380DB0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350" y="3049025"/>
            <a:ext cx="5697991" cy="3749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32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3DF85-A94B-7E22-480C-954ED0E66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3D358-6681-DDF5-95F7-70B280CC4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726D6-4790-5211-3649-637814A94E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D8BAE0-BE10-094C-0E37-06BDE1131D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EBFF321-7BB9-5344-9840-43B9F6970F5C}"/>
              </a:ext>
            </a:extLst>
          </p:cNvPr>
          <p:cNvSpPr txBox="1"/>
          <p:nvPr/>
        </p:nvSpPr>
        <p:spPr>
          <a:xfrm>
            <a:off x="0" y="1134563"/>
            <a:ext cx="5377543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b="1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• Age distribution of patients 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• Gender-wise analysis 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• Most common diseases 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• Billing amount trends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672642-5527-34B8-9979-18A80357386A}"/>
              </a:ext>
            </a:extLst>
          </p:cNvPr>
          <p:cNvSpPr txBox="1"/>
          <p:nvPr/>
        </p:nvSpPr>
        <p:spPr>
          <a:xfrm>
            <a:off x="0" y="149678"/>
            <a:ext cx="1219200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Analysis Performed</a:t>
            </a:r>
          </a:p>
          <a:p>
            <a:pPr algn="ctr"/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142E99-28D6-B84D-7A55-AEF91BDC71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2487" y="1101871"/>
            <a:ext cx="6923316" cy="5075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6610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022A3-D2E2-5128-81FC-90916EF8D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F62C5-C526-06D3-7F8B-847CFF0A9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87808-207B-43DE-5870-AFBEB95CD0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B21166-BA53-D4D7-2AD5-82854DC112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CBF37C-E30B-3E5D-F7EB-56C08109DA76}"/>
              </a:ext>
            </a:extLst>
          </p:cNvPr>
          <p:cNvSpPr txBox="1"/>
          <p:nvPr/>
        </p:nvSpPr>
        <p:spPr>
          <a:xfrm>
            <a:off x="195943" y="1027906"/>
            <a:ext cx="74676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  Majority of patients belong to age group  :- 50 – 65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•</a:t>
            </a:r>
            <a:r>
              <a:rPr lang="en-IN" sz="2400" b="1" dirty="0">
                <a:solidFill>
                  <a:schemeClr val="bg1"/>
                </a:solidFill>
              </a:rPr>
              <a:t> Most Used Medication per Condition:-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     	-  Arthritis</a:t>
            </a:r>
            <a:r>
              <a:rPr lang="en-IN" sz="2400" dirty="0">
                <a:solidFill>
                  <a:schemeClr val="bg1"/>
                </a:solidFill>
              </a:rPr>
              <a:t> → Highest with </a:t>
            </a:r>
            <a:r>
              <a:rPr lang="en-IN" sz="2400" i="1" dirty="0">
                <a:solidFill>
                  <a:schemeClr val="bg1"/>
                </a:solidFill>
              </a:rPr>
              <a:t>Aspirin (1901)</a:t>
            </a:r>
            <a:r>
              <a:rPr lang="en-IN" sz="2400" dirty="0">
                <a:solidFill>
                  <a:schemeClr val="bg1"/>
                </a:solidFill>
              </a:rPr>
              <a:t> 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   	- Asthma</a:t>
            </a:r>
            <a:r>
              <a:rPr lang="en-IN" sz="2400" dirty="0">
                <a:solidFill>
                  <a:schemeClr val="bg1"/>
                </a:solidFill>
              </a:rPr>
              <a:t> → Highest with </a:t>
            </a:r>
            <a:r>
              <a:rPr lang="en-IN" sz="2400" i="1" dirty="0">
                <a:solidFill>
                  <a:schemeClr val="bg1"/>
                </a:solidFill>
              </a:rPr>
              <a:t>Paracetamol (1870)</a:t>
            </a:r>
            <a:r>
              <a:rPr lang="en-IN" sz="2400" dirty="0">
                <a:solidFill>
                  <a:schemeClr val="bg1"/>
                </a:solidFill>
              </a:rPr>
              <a:t> 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	- Cancer</a:t>
            </a:r>
            <a:r>
              <a:rPr lang="en-IN" sz="2400" dirty="0">
                <a:solidFill>
                  <a:schemeClr val="bg1"/>
                </a:solidFill>
              </a:rPr>
              <a:t> → Highest with </a:t>
            </a:r>
            <a:r>
              <a:rPr lang="en-IN" sz="2400" i="1" dirty="0">
                <a:solidFill>
                  <a:schemeClr val="bg1"/>
                </a:solidFill>
              </a:rPr>
              <a:t>Lipitor (1904)</a:t>
            </a:r>
            <a:r>
              <a:rPr lang="en-IN" sz="2400" dirty="0">
                <a:solidFill>
                  <a:schemeClr val="bg1"/>
                </a:solidFill>
              </a:rPr>
              <a:t>  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	- Diabetes</a:t>
            </a:r>
            <a:r>
              <a:rPr lang="en-IN" sz="2400" dirty="0">
                <a:solidFill>
                  <a:schemeClr val="bg1"/>
                </a:solidFill>
              </a:rPr>
              <a:t> → Highest with </a:t>
            </a:r>
            <a:r>
              <a:rPr lang="en-IN" sz="2400" i="1" dirty="0">
                <a:solidFill>
                  <a:schemeClr val="bg1"/>
                </a:solidFill>
              </a:rPr>
              <a:t>Lipitor (1875)</a:t>
            </a:r>
            <a:r>
              <a:rPr lang="en-IN" sz="2400" dirty="0">
                <a:solidFill>
                  <a:schemeClr val="bg1"/>
                </a:solidFill>
              </a:rPr>
              <a:t> 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	- Hypertension</a:t>
            </a:r>
            <a:r>
              <a:rPr lang="en-IN" sz="2400" dirty="0">
                <a:solidFill>
                  <a:schemeClr val="bg1"/>
                </a:solidFill>
              </a:rPr>
              <a:t> → Highest with </a:t>
            </a:r>
            <a:r>
              <a:rPr lang="en-IN" sz="2400" i="1" dirty="0">
                <a:solidFill>
                  <a:schemeClr val="bg1"/>
                </a:solidFill>
              </a:rPr>
              <a:t>Ibuprofen (1874)</a:t>
            </a:r>
            <a:r>
              <a:rPr lang="en-IN" sz="2400" dirty="0">
                <a:solidFill>
                  <a:schemeClr val="bg1"/>
                </a:solidFill>
              </a:rPr>
              <a:t> 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	- Obesity</a:t>
            </a:r>
            <a:r>
              <a:rPr lang="en-IN" sz="2400" dirty="0">
                <a:solidFill>
                  <a:schemeClr val="bg1"/>
                </a:solidFill>
              </a:rPr>
              <a:t> → Highest with </a:t>
            </a:r>
            <a:r>
              <a:rPr lang="en-IN" sz="2400" i="1" dirty="0">
                <a:solidFill>
                  <a:schemeClr val="bg1"/>
                </a:solidFill>
              </a:rPr>
              <a:t>Penicillin (1872)</a:t>
            </a:r>
          </a:p>
          <a:p>
            <a:endParaRPr lang="en-IN" sz="24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   Billing amount is higher for ___obesity patients 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   Data cleaning improved analysis accuracy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30B9EC-D36C-E518-E600-87B30EDB3AD2}"/>
              </a:ext>
            </a:extLst>
          </p:cNvPr>
          <p:cNvSpPr txBox="1"/>
          <p:nvPr/>
        </p:nvSpPr>
        <p:spPr>
          <a:xfrm>
            <a:off x="0" y="365125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Key Insights</a:t>
            </a:r>
          </a:p>
          <a:p>
            <a:pPr algn="ctr"/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739576F-8C83-C93D-C921-B356DE6EA0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1657" y="1128712"/>
            <a:ext cx="4920343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935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B15B7-6AC3-022A-EC02-CB61FE82F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BAE8C-EDA5-0C9E-09F5-F1F27DAF1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2733B1-C3FA-40D6-2416-565636947F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5278DE6-ECFF-BD36-115E-11FF42030824}"/>
              </a:ext>
            </a:extLst>
          </p:cNvPr>
          <p:cNvSpPr txBox="1"/>
          <p:nvPr/>
        </p:nvSpPr>
        <p:spPr>
          <a:xfrm>
            <a:off x="141513" y="1690688"/>
            <a:ext cx="6999515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• Data cleaning is essential before analysis 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• EDA helps uncover useful insights 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• Python is effective for data analysis tasks 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• Clean data leads to better decision-making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78997D-CA7B-FD8E-397A-978A400BDD9D}"/>
              </a:ext>
            </a:extLst>
          </p:cNvPr>
          <p:cNvSpPr txBox="1"/>
          <p:nvPr/>
        </p:nvSpPr>
        <p:spPr>
          <a:xfrm>
            <a:off x="0" y="498257"/>
            <a:ext cx="12192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Conclusion</a:t>
            </a:r>
          </a:p>
          <a:p>
            <a:pPr algn="ctr"/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1969635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354</Words>
  <Application>Microsoft Office PowerPoint</Application>
  <PresentationFormat>Widescreen</PresentationFormat>
  <Paragraphs>89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vishal prajapati</dc:creator>
  <cp:lastModifiedBy>vishal prajapati</cp:lastModifiedBy>
  <cp:revision>2</cp:revision>
  <dcterms:created xsi:type="dcterms:W3CDTF">2026-04-23T05:39:21Z</dcterms:created>
  <dcterms:modified xsi:type="dcterms:W3CDTF">2026-04-23T08:06:23Z</dcterms:modified>
</cp:coreProperties>
</file>